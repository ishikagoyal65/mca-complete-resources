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2" r:id="rId7"/>
    <p:sldId id="263" r:id="rId8"/>
    <p:sldId id="264" r:id="rId9"/>
    <p:sldId id="265" r:id="rId10"/>
    <p:sldId id="266" r:id="rId11"/>
    <p:sldId id="267" r:id="rId12"/>
    <p:sldId id="25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4660"/>
  </p:normalViewPr>
  <p:slideViewPr>
    <p:cSldViewPr snapToGrid="0">
      <p:cViewPr varScale="1">
        <p:scale>
          <a:sx n="82" d="100"/>
          <a:sy n="82" d="100"/>
        </p:scale>
        <p:origin x="89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E94E7-1609-30A0-864D-AEB15961DA3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B5ADC6C-9594-3ADD-6775-B6C6D4AA73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8DEA344-28B6-CA6F-0460-E48E1B126CC4}"/>
              </a:ext>
            </a:extLst>
          </p:cNvPr>
          <p:cNvSpPr>
            <a:spLocks noGrp="1"/>
          </p:cNvSpPr>
          <p:nvPr>
            <p:ph type="dt" sz="half" idx="10"/>
          </p:nvPr>
        </p:nvSpPr>
        <p:spPr/>
        <p:txBody>
          <a:bodyPr/>
          <a:lstStyle/>
          <a:p>
            <a:fld id="{7BCC51E0-B7C7-4DBD-BA28-EC028D902D73}" type="datetimeFigureOut">
              <a:rPr lang="en-IN" smtClean="0"/>
              <a:t>03-09-2024</a:t>
            </a:fld>
            <a:endParaRPr lang="en-IN"/>
          </a:p>
        </p:txBody>
      </p:sp>
      <p:sp>
        <p:nvSpPr>
          <p:cNvPr id="5" name="Footer Placeholder 4">
            <a:extLst>
              <a:ext uri="{FF2B5EF4-FFF2-40B4-BE49-F238E27FC236}">
                <a16:creationId xmlns:a16="http://schemas.microsoft.com/office/drawing/2014/main" id="{360E46C7-407A-9C76-ECB5-9B4C4F070C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1A5FA7-D5BD-7D27-5794-4B385A79AA1B}"/>
              </a:ext>
            </a:extLst>
          </p:cNvPr>
          <p:cNvSpPr>
            <a:spLocks noGrp="1"/>
          </p:cNvSpPr>
          <p:nvPr>
            <p:ph type="sldNum" sz="quarter" idx="12"/>
          </p:nvPr>
        </p:nvSpPr>
        <p:spPr/>
        <p:txBody>
          <a:bodyPr/>
          <a:lstStyle/>
          <a:p>
            <a:fld id="{CD9A03DF-EA37-4673-B6C0-735F29749BFC}" type="slidenum">
              <a:rPr lang="en-IN" smtClean="0"/>
              <a:t>‹#›</a:t>
            </a:fld>
            <a:endParaRPr lang="en-IN"/>
          </a:p>
        </p:txBody>
      </p:sp>
    </p:spTree>
    <p:extLst>
      <p:ext uri="{BB962C8B-B14F-4D97-AF65-F5344CB8AC3E}">
        <p14:creationId xmlns:p14="http://schemas.microsoft.com/office/powerpoint/2010/main" val="2046178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5F850-2010-8351-2AB7-6094FC2E855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F0152C3-8118-ED59-6603-DCF5A96C66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83328CF-85A9-880B-3781-6662EAEA5B50}"/>
              </a:ext>
            </a:extLst>
          </p:cNvPr>
          <p:cNvSpPr>
            <a:spLocks noGrp="1"/>
          </p:cNvSpPr>
          <p:nvPr>
            <p:ph type="dt" sz="half" idx="10"/>
          </p:nvPr>
        </p:nvSpPr>
        <p:spPr/>
        <p:txBody>
          <a:bodyPr/>
          <a:lstStyle/>
          <a:p>
            <a:fld id="{7BCC51E0-B7C7-4DBD-BA28-EC028D902D73}" type="datetimeFigureOut">
              <a:rPr lang="en-IN" smtClean="0"/>
              <a:t>03-09-2024</a:t>
            </a:fld>
            <a:endParaRPr lang="en-IN"/>
          </a:p>
        </p:txBody>
      </p:sp>
      <p:sp>
        <p:nvSpPr>
          <p:cNvPr id="5" name="Footer Placeholder 4">
            <a:extLst>
              <a:ext uri="{FF2B5EF4-FFF2-40B4-BE49-F238E27FC236}">
                <a16:creationId xmlns:a16="http://schemas.microsoft.com/office/drawing/2014/main" id="{E4FA1EF5-14FF-8F93-DA14-B5B60E6C00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5757F9-64E6-5435-DF32-9B69AF098D2E}"/>
              </a:ext>
            </a:extLst>
          </p:cNvPr>
          <p:cNvSpPr>
            <a:spLocks noGrp="1"/>
          </p:cNvSpPr>
          <p:nvPr>
            <p:ph type="sldNum" sz="quarter" idx="12"/>
          </p:nvPr>
        </p:nvSpPr>
        <p:spPr/>
        <p:txBody>
          <a:bodyPr/>
          <a:lstStyle/>
          <a:p>
            <a:fld id="{CD9A03DF-EA37-4673-B6C0-735F29749BFC}" type="slidenum">
              <a:rPr lang="en-IN" smtClean="0"/>
              <a:t>‹#›</a:t>
            </a:fld>
            <a:endParaRPr lang="en-IN"/>
          </a:p>
        </p:txBody>
      </p:sp>
    </p:spTree>
    <p:extLst>
      <p:ext uri="{BB962C8B-B14F-4D97-AF65-F5344CB8AC3E}">
        <p14:creationId xmlns:p14="http://schemas.microsoft.com/office/powerpoint/2010/main" val="1024947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DF070-65D2-64CD-5D41-811B6747436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0C24A16-E26D-C330-0F85-0905C068E5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8FA5C9B-43C8-83AB-CA5A-B50EDFFACC12}"/>
              </a:ext>
            </a:extLst>
          </p:cNvPr>
          <p:cNvSpPr>
            <a:spLocks noGrp="1"/>
          </p:cNvSpPr>
          <p:nvPr>
            <p:ph type="dt" sz="half" idx="10"/>
          </p:nvPr>
        </p:nvSpPr>
        <p:spPr/>
        <p:txBody>
          <a:bodyPr/>
          <a:lstStyle/>
          <a:p>
            <a:fld id="{7BCC51E0-B7C7-4DBD-BA28-EC028D902D73}" type="datetimeFigureOut">
              <a:rPr lang="en-IN" smtClean="0"/>
              <a:t>03-09-2024</a:t>
            </a:fld>
            <a:endParaRPr lang="en-IN"/>
          </a:p>
        </p:txBody>
      </p:sp>
      <p:sp>
        <p:nvSpPr>
          <p:cNvPr id="5" name="Footer Placeholder 4">
            <a:extLst>
              <a:ext uri="{FF2B5EF4-FFF2-40B4-BE49-F238E27FC236}">
                <a16:creationId xmlns:a16="http://schemas.microsoft.com/office/drawing/2014/main" id="{FBF82976-CD95-FA86-48AC-B5DC472449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40F596-2E1A-2C68-C8BD-48540793592E}"/>
              </a:ext>
            </a:extLst>
          </p:cNvPr>
          <p:cNvSpPr>
            <a:spLocks noGrp="1"/>
          </p:cNvSpPr>
          <p:nvPr>
            <p:ph type="sldNum" sz="quarter" idx="12"/>
          </p:nvPr>
        </p:nvSpPr>
        <p:spPr/>
        <p:txBody>
          <a:bodyPr/>
          <a:lstStyle/>
          <a:p>
            <a:fld id="{CD9A03DF-EA37-4673-B6C0-735F29749BFC}" type="slidenum">
              <a:rPr lang="en-IN" smtClean="0"/>
              <a:t>‹#›</a:t>
            </a:fld>
            <a:endParaRPr lang="en-IN"/>
          </a:p>
        </p:txBody>
      </p:sp>
    </p:spTree>
    <p:extLst>
      <p:ext uri="{BB962C8B-B14F-4D97-AF65-F5344CB8AC3E}">
        <p14:creationId xmlns:p14="http://schemas.microsoft.com/office/powerpoint/2010/main" val="25502847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A4FC5-8DE2-335F-CA4F-681920E21A3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86D45EF-D330-00A9-93DD-4D658B53CC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28FF047-858A-EA3F-15F7-44DCA493DF9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73C92AE-EFB2-E582-57D9-368F7C7CFFBF}"/>
              </a:ext>
            </a:extLst>
          </p:cNvPr>
          <p:cNvSpPr>
            <a:spLocks noGrp="1"/>
          </p:cNvSpPr>
          <p:nvPr>
            <p:ph type="dt" sz="half" idx="10"/>
          </p:nvPr>
        </p:nvSpPr>
        <p:spPr/>
        <p:txBody>
          <a:bodyPr/>
          <a:lstStyle/>
          <a:p>
            <a:fld id="{7BCC51E0-B7C7-4DBD-BA28-EC028D902D73}" type="datetimeFigureOut">
              <a:rPr lang="en-IN" smtClean="0"/>
              <a:t>03-09-2024</a:t>
            </a:fld>
            <a:endParaRPr lang="en-IN"/>
          </a:p>
        </p:txBody>
      </p:sp>
      <p:sp>
        <p:nvSpPr>
          <p:cNvPr id="6" name="Footer Placeholder 5">
            <a:extLst>
              <a:ext uri="{FF2B5EF4-FFF2-40B4-BE49-F238E27FC236}">
                <a16:creationId xmlns:a16="http://schemas.microsoft.com/office/drawing/2014/main" id="{208C3631-BD6A-6929-33A9-04C9EE484B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02029A1-BBDD-7BEB-8B6C-7EB05A542E34}"/>
              </a:ext>
            </a:extLst>
          </p:cNvPr>
          <p:cNvSpPr>
            <a:spLocks noGrp="1"/>
          </p:cNvSpPr>
          <p:nvPr>
            <p:ph type="sldNum" sz="quarter" idx="12"/>
          </p:nvPr>
        </p:nvSpPr>
        <p:spPr/>
        <p:txBody>
          <a:bodyPr/>
          <a:lstStyle/>
          <a:p>
            <a:fld id="{CD9A03DF-EA37-4673-B6C0-735F29749BFC}" type="slidenum">
              <a:rPr lang="en-IN" smtClean="0"/>
              <a:t>‹#›</a:t>
            </a:fld>
            <a:endParaRPr lang="en-IN"/>
          </a:p>
        </p:txBody>
      </p:sp>
    </p:spTree>
    <p:extLst>
      <p:ext uri="{BB962C8B-B14F-4D97-AF65-F5344CB8AC3E}">
        <p14:creationId xmlns:p14="http://schemas.microsoft.com/office/powerpoint/2010/main" val="1549858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1EE9F-BE17-125B-8252-9FBF45EFFDC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EE6A68F-D2FF-18A7-E6F7-235F1FB64E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1184080-8014-B65D-3728-63FD423363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698700B-364C-9931-AB0F-AB81B3DCDC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752BE8D-021F-D075-4E63-310D4EFB91B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4179A9A-9E9B-CD90-D519-B05763EB0F85}"/>
              </a:ext>
            </a:extLst>
          </p:cNvPr>
          <p:cNvSpPr>
            <a:spLocks noGrp="1"/>
          </p:cNvSpPr>
          <p:nvPr>
            <p:ph type="dt" sz="half" idx="10"/>
          </p:nvPr>
        </p:nvSpPr>
        <p:spPr/>
        <p:txBody>
          <a:bodyPr/>
          <a:lstStyle/>
          <a:p>
            <a:fld id="{7BCC51E0-B7C7-4DBD-BA28-EC028D902D73}" type="datetimeFigureOut">
              <a:rPr lang="en-IN" smtClean="0"/>
              <a:t>03-09-2024</a:t>
            </a:fld>
            <a:endParaRPr lang="en-IN"/>
          </a:p>
        </p:txBody>
      </p:sp>
      <p:sp>
        <p:nvSpPr>
          <p:cNvPr id="8" name="Footer Placeholder 7">
            <a:extLst>
              <a:ext uri="{FF2B5EF4-FFF2-40B4-BE49-F238E27FC236}">
                <a16:creationId xmlns:a16="http://schemas.microsoft.com/office/drawing/2014/main" id="{7FA1A45C-BD48-AEB2-2CE8-92C78A5EA50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B7110AF-FE84-5AD2-80D9-67B9E390762B}"/>
              </a:ext>
            </a:extLst>
          </p:cNvPr>
          <p:cNvSpPr>
            <a:spLocks noGrp="1"/>
          </p:cNvSpPr>
          <p:nvPr>
            <p:ph type="sldNum" sz="quarter" idx="12"/>
          </p:nvPr>
        </p:nvSpPr>
        <p:spPr/>
        <p:txBody>
          <a:bodyPr/>
          <a:lstStyle/>
          <a:p>
            <a:fld id="{CD9A03DF-EA37-4673-B6C0-735F29749BFC}" type="slidenum">
              <a:rPr lang="en-IN" smtClean="0"/>
              <a:t>‹#›</a:t>
            </a:fld>
            <a:endParaRPr lang="en-IN"/>
          </a:p>
        </p:txBody>
      </p:sp>
    </p:spTree>
    <p:extLst>
      <p:ext uri="{BB962C8B-B14F-4D97-AF65-F5344CB8AC3E}">
        <p14:creationId xmlns:p14="http://schemas.microsoft.com/office/powerpoint/2010/main" val="26086883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7CA08-C227-8F7F-0744-07FB7A04E86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DA4D2AA-BE0D-4214-B11D-B8EC3B316E74}"/>
              </a:ext>
            </a:extLst>
          </p:cNvPr>
          <p:cNvSpPr>
            <a:spLocks noGrp="1"/>
          </p:cNvSpPr>
          <p:nvPr>
            <p:ph type="dt" sz="half" idx="10"/>
          </p:nvPr>
        </p:nvSpPr>
        <p:spPr/>
        <p:txBody>
          <a:bodyPr/>
          <a:lstStyle/>
          <a:p>
            <a:fld id="{7BCC51E0-B7C7-4DBD-BA28-EC028D902D73}" type="datetimeFigureOut">
              <a:rPr lang="en-IN" smtClean="0"/>
              <a:t>03-09-2024</a:t>
            </a:fld>
            <a:endParaRPr lang="en-IN"/>
          </a:p>
        </p:txBody>
      </p:sp>
      <p:sp>
        <p:nvSpPr>
          <p:cNvPr id="4" name="Footer Placeholder 3">
            <a:extLst>
              <a:ext uri="{FF2B5EF4-FFF2-40B4-BE49-F238E27FC236}">
                <a16:creationId xmlns:a16="http://schemas.microsoft.com/office/drawing/2014/main" id="{C0575C4F-5A8A-BC93-9A81-1F7398736AF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9D9E78F-6A71-5A34-742A-B774B9305E43}"/>
              </a:ext>
            </a:extLst>
          </p:cNvPr>
          <p:cNvSpPr>
            <a:spLocks noGrp="1"/>
          </p:cNvSpPr>
          <p:nvPr>
            <p:ph type="sldNum" sz="quarter" idx="12"/>
          </p:nvPr>
        </p:nvSpPr>
        <p:spPr/>
        <p:txBody>
          <a:bodyPr/>
          <a:lstStyle/>
          <a:p>
            <a:fld id="{CD9A03DF-EA37-4673-B6C0-735F29749BFC}" type="slidenum">
              <a:rPr lang="en-IN" smtClean="0"/>
              <a:t>‹#›</a:t>
            </a:fld>
            <a:endParaRPr lang="en-IN"/>
          </a:p>
        </p:txBody>
      </p:sp>
    </p:spTree>
    <p:extLst>
      <p:ext uri="{BB962C8B-B14F-4D97-AF65-F5344CB8AC3E}">
        <p14:creationId xmlns:p14="http://schemas.microsoft.com/office/powerpoint/2010/main" val="7524606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339586-726F-6281-E380-D07252D2AE49}"/>
              </a:ext>
            </a:extLst>
          </p:cNvPr>
          <p:cNvSpPr>
            <a:spLocks noGrp="1"/>
          </p:cNvSpPr>
          <p:nvPr>
            <p:ph type="dt" sz="half" idx="10"/>
          </p:nvPr>
        </p:nvSpPr>
        <p:spPr/>
        <p:txBody>
          <a:bodyPr/>
          <a:lstStyle/>
          <a:p>
            <a:fld id="{7BCC51E0-B7C7-4DBD-BA28-EC028D902D73}" type="datetimeFigureOut">
              <a:rPr lang="en-IN" smtClean="0"/>
              <a:t>03-09-2024</a:t>
            </a:fld>
            <a:endParaRPr lang="en-IN"/>
          </a:p>
        </p:txBody>
      </p:sp>
      <p:sp>
        <p:nvSpPr>
          <p:cNvPr id="3" name="Footer Placeholder 2">
            <a:extLst>
              <a:ext uri="{FF2B5EF4-FFF2-40B4-BE49-F238E27FC236}">
                <a16:creationId xmlns:a16="http://schemas.microsoft.com/office/drawing/2014/main" id="{79641EA9-D1D6-AADC-5F5D-5B82A46428F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9494A0B-B8DF-FD91-643D-4FD5651EDE93}"/>
              </a:ext>
            </a:extLst>
          </p:cNvPr>
          <p:cNvSpPr>
            <a:spLocks noGrp="1"/>
          </p:cNvSpPr>
          <p:nvPr>
            <p:ph type="sldNum" sz="quarter" idx="12"/>
          </p:nvPr>
        </p:nvSpPr>
        <p:spPr/>
        <p:txBody>
          <a:bodyPr/>
          <a:lstStyle/>
          <a:p>
            <a:fld id="{CD9A03DF-EA37-4673-B6C0-735F29749BFC}" type="slidenum">
              <a:rPr lang="en-IN" smtClean="0"/>
              <a:t>‹#›</a:t>
            </a:fld>
            <a:endParaRPr lang="en-IN"/>
          </a:p>
        </p:txBody>
      </p:sp>
    </p:spTree>
    <p:extLst>
      <p:ext uri="{BB962C8B-B14F-4D97-AF65-F5344CB8AC3E}">
        <p14:creationId xmlns:p14="http://schemas.microsoft.com/office/powerpoint/2010/main" val="12898060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A3AB9-8384-0071-1576-6866B0B58B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19C1C8F-E587-8A34-BD64-588208F1B7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CFB6E2A-BF0E-4CFA-29B1-7A6405EF8A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564EFD-B6A6-F1AC-6ACC-89BC86F79284}"/>
              </a:ext>
            </a:extLst>
          </p:cNvPr>
          <p:cNvSpPr>
            <a:spLocks noGrp="1"/>
          </p:cNvSpPr>
          <p:nvPr>
            <p:ph type="dt" sz="half" idx="10"/>
          </p:nvPr>
        </p:nvSpPr>
        <p:spPr/>
        <p:txBody>
          <a:bodyPr/>
          <a:lstStyle/>
          <a:p>
            <a:fld id="{7BCC51E0-B7C7-4DBD-BA28-EC028D902D73}" type="datetimeFigureOut">
              <a:rPr lang="en-IN" smtClean="0"/>
              <a:t>03-09-2024</a:t>
            </a:fld>
            <a:endParaRPr lang="en-IN"/>
          </a:p>
        </p:txBody>
      </p:sp>
      <p:sp>
        <p:nvSpPr>
          <p:cNvPr id="6" name="Footer Placeholder 5">
            <a:extLst>
              <a:ext uri="{FF2B5EF4-FFF2-40B4-BE49-F238E27FC236}">
                <a16:creationId xmlns:a16="http://schemas.microsoft.com/office/drawing/2014/main" id="{F8026702-15A9-FB8F-1858-38226BCA669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C49CD94-74F8-6B19-6B42-1348CA3DA464}"/>
              </a:ext>
            </a:extLst>
          </p:cNvPr>
          <p:cNvSpPr>
            <a:spLocks noGrp="1"/>
          </p:cNvSpPr>
          <p:nvPr>
            <p:ph type="sldNum" sz="quarter" idx="12"/>
          </p:nvPr>
        </p:nvSpPr>
        <p:spPr/>
        <p:txBody>
          <a:bodyPr/>
          <a:lstStyle/>
          <a:p>
            <a:fld id="{CD9A03DF-EA37-4673-B6C0-735F29749BFC}" type="slidenum">
              <a:rPr lang="en-IN" smtClean="0"/>
              <a:t>‹#›</a:t>
            </a:fld>
            <a:endParaRPr lang="en-IN"/>
          </a:p>
        </p:txBody>
      </p:sp>
    </p:spTree>
    <p:extLst>
      <p:ext uri="{BB962C8B-B14F-4D97-AF65-F5344CB8AC3E}">
        <p14:creationId xmlns:p14="http://schemas.microsoft.com/office/powerpoint/2010/main" val="11553279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A1BBB-F0DD-6CBC-59D4-8F09836DBF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859EE0A-DCA5-6652-2832-E743A6EB06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8BE3E0E-43BE-646C-2ECF-A2DB9A9432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86CBA6-BEEC-B5C4-14C8-BEF53763528B}"/>
              </a:ext>
            </a:extLst>
          </p:cNvPr>
          <p:cNvSpPr>
            <a:spLocks noGrp="1"/>
          </p:cNvSpPr>
          <p:nvPr>
            <p:ph type="dt" sz="half" idx="10"/>
          </p:nvPr>
        </p:nvSpPr>
        <p:spPr/>
        <p:txBody>
          <a:bodyPr/>
          <a:lstStyle/>
          <a:p>
            <a:fld id="{7BCC51E0-B7C7-4DBD-BA28-EC028D902D73}" type="datetimeFigureOut">
              <a:rPr lang="en-IN" smtClean="0"/>
              <a:t>03-09-2024</a:t>
            </a:fld>
            <a:endParaRPr lang="en-IN"/>
          </a:p>
        </p:txBody>
      </p:sp>
      <p:sp>
        <p:nvSpPr>
          <p:cNvPr id="6" name="Footer Placeholder 5">
            <a:extLst>
              <a:ext uri="{FF2B5EF4-FFF2-40B4-BE49-F238E27FC236}">
                <a16:creationId xmlns:a16="http://schemas.microsoft.com/office/drawing/2014/main" id="{F70E4002-9F0A-2237-2CCD-BFDE5D86C48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78903CD-9B7C-F4C4-7FD4-9D7A652C3D80}"/>
              </a:ext>
            </a:extLst>
          </p:cNvPr>
          <p:cNvSpPr>
            <a:spLocks noGrp="1"/>
          </p:cNvSpPr>
          <p:nvPr>
            <p:ph type="sldNum" sz="quarter" idx="12"/>
          </p:nvPr>
        </p:nvSpPr>
        <p:spPr/>
        <p:txBody>
          <a:bodyPr/>
          <a:lstStyle/>
          <a:p>
            <a:fld id="{CD9A03DF-EA37-4673-B6C0-735F29749BFC}" type="slidenum">
              <a:rPr lang="en-IN" smtClean="0"/>
              <a:t>‹#›</a:t>
            </a:fld>
            <a:endParaRPr lang="en-IN"/>
          </a:p>
        </p:txBody>
      </p:sp>
    </p:spTree>
    <p:extLst>
      <p:ext uri="{BB962C8B-B14F-4D97-AF65-F5344CB8AC3E}">
        <p14:creationId xmlns:p14="http://schemas.microsoft.com/office/powerpoint/2010/main" val="3898566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C649C-2165-6D40-7557-FB854F7EBBD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112E4D8-3CB5-86B5-EFFA-CB7E565BEB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6A706D-EB9F-115E-C3D2-F5572937042C}"/>
              </a:ext>
            </a:extLst>
          </p:cNvPr>
          <p:cNvSpPr>
            <a:spLocks noGrp="1"/>
          </p:cNvSpPr>
          <p:nvPr>
            <p:ph type="dt" sz="half" idx="10"/>
          </p:nvPr>
        </p:nvSpPr>
        <p:spPr/>
        <p:txBody>
          <a:bodyPr/>
          <a:lstStyle/>
          <a:p>
            <a:fld id="{7BCC51E0-B7C7-4DBD-BA28-EC028D902D73}" type="datetimeFigureOut">
              <a:rPr lang="en-IN" smtClean="0"/>
              <a:t>03-09-2024</a:t>
            </a:fld>
            <a:endParaRPr lang="en-IN"/>
          </a:p>
        </p:txBody>
      </p:sp>
      <p:sp>
        <p:nvSpPr>
          <p:cNvPr id="5" name="Footer Placeholder 4">
            <a:extLst>
              <a:ext uri="{FF2B5EF4-FFF2-40B4-BE49-F238E27FC236}">
                <a16:creationId xmlns:a16="http://schemas.microsoft.com/office/drawing/2014/main" id="{F2914305-7458-1A87-D2B6-9F61191228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CDBABC-B0CC-10E6-46A7-E2C6AB2910DE}"/>
              </a:ext>
            </a:extLst>
          </p:cNvPr>
          <p:cNvSpPr>
            <a:spLocks noGrp="1"/>
          </p:cNvSpPr>
          <p:nvPr>
            <p:ph type="sldNum" sz="quarter" idx="12"/>
          </p:nvPr>
        </p:nvSpPr>
        <p:spPr/>
        <p:txBody>
          <a:bodyPr/>
          <a:lstStyle/>
          <a:p>
            <a:fld id="{CD9A03DF-EA37-4673-B6C0-735F29749BFC}" type="slidenum">
              <a:rPr lang="en-IN" smtClean="0"/>
              <a:t>‹#›</a:t>
            </a:fld>
            <a:endParaRPr lang="en-IN"/>
          </a:p>
        </p:txBody>
      </p:sp>
    </p:spTree>
    <p:extLst>
      <p:ext uri="{BB962C8B-B14F-4D97-AF65-F5344CB8AC3E}">
        <p14:creationId xmlns:p14="http://schemas.microsoft.com/office/powerpoint/2010/main" val="21158010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BDB6FB-A330-2B17-C194-90FA444EA1C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E6A29D4-F9DF-14B1-1F48-05057EE694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D70D83-1072-AF92-2ED6-686C975542F0}"/>
              </a:ext>
            </a:extLst>
          </p:cNvPr>
          <p:cNvSpPr>
            <a:spLocks noGrp="1"/>
          </p:cNvSpPr>
          <p:nvPr>
            <p:ph type="dt" sz="half" idx="10"/>
          </p:nvPr>
        </p:nvSpPr>
        <p:spPr/>
        <p:txBody>
          <a:bodyPr/>
          <a:lstStyle/>
          <a:p>
            <a:fld id="{7BCC51E0-B7C7-4DBD-BA28-EC028D902D73}" type="datetimeFigureOut">
              <a:rPr lang="en-IN" smtClean="0"/>
              <a:t>03-09-2024</a:t>
            </a:fld>
            <a:endParaRPr lang="en-IN"/>
          </a:p>
        </p:txBody>
      </p:sp>
      <p:sp>
        <p:nvSpPr>
          <p:cNvPr id="5" name="Footer Placeholder 4">
            <a:extLst>
              <a:ext uri="{FF2B5EF4-FFF2-40B4-BE49-F238E27FC236}">
                <a16:creationId xmlns:a16="http://schemas.microsoft.com/office/drawing/2014/main" id="{C4D4FCBC-A5C0-5F5B-2109-4808A9E093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5C245B9-3487-0F96-1D7D-35466F9DC94F}"/>
              </a:ext>
            </a:extLst>
          </p:cNvPr>
          <p:cNvSpPr>
            <a:spLocks noGrp="1"/>
          </p:cNvSpPr>
          <p:nvPr>
            <p:ph type="sldNum" sz="quarter" idx="12"/>
          </p:nvPr>
        </p:nvSpPr>
        <p:spPr/>
        <p:txBody>
          <a:bodyPr/>
          <a:lstStyle/>
          <a:p>
            <a:fld id="{CD9A03DF-EA37-4673-B6C0-735F29749BFC}" type="slidenum">
              <a:rPr lang="en-IN" smtClean="0"/>
              <a:t>‹#›</a:t>
            </a:fld>
            <a:endParaRPr lang="en-IN"/>
          </a:p>
        </p:txBody>
      </p:sp>
    </p:spTree>
    <p:extLst>
      <p:ext uri="{BB962C8B-B14F-4D97-AF65-F5344CB8AC3E}">
        <p14:creationId xmlns:p14="http://schemas.microsoft.com/office/powerpoint/2010/main" val="4141691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7DEC65-B922-3F40-B9A1-B3A87CFD3A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3D5B605-4C9D-D62F-57CF-69105A08B9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623F13-D2DE-9FD2-C3D7-8C92E9C8A6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CC51E0-B7C7-4DBD-BA28-EC028D902D73}" type="datetimeFigureOut">
              <a:rPr lang="en-IN" smtClean="0"/>
              <a:t>03-09-2024</a:t>
            </a:fld>
            <a:endParaRPr lang="en-IN"/>
          </a:p>
        </p:txBody>
      </p:sp>
      <p:sp>
        <p:nvSpPr>
          <p:cNvPr id="5" name="Footer Placeholder 4">
            <a:extLst>
              <a:ext uri="{FF2B5EF4-FFF2-40B4-BE49-F238E27FC236}">
                <a16:creationId xmlns:a16="http://schemas.microsoft.com/office/drawing/2014/main" id="{B89A95BA-9072-CE3A-0161-F084FD3649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7ACF16A-402E-50FC-9723-A001727C6F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9A03DF-EA37-4673-B6C0-735F29749BFC}" type="slidenum">
              <a:rPr lang="en-IN" smtClean="0"/>
              <a:t>‹#›</a:t>
            </a:fld>
            <a:endParaRPr lang="en-IN"/>
          </a:p>
        </p:txBody>
      </p:sp>
    </p:spTree>
    <p:extLst>
      <p:ext uri="{BB962C8B-B14F-4D97-AF65-F5344CB8AC3E}">
        <p14:creationId xmlns:p14="http://schemas.microsoft.com/office/powerpoint/2010/main" val="42001998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twitter.com/rajaharia/status/1345659284160356352" TargetMode="External"/><Relationship Id="rId2" Type="http://schemas.openxmlformats.org/officeDocument/2006/relationships/hyperlink" Target="https://timesofindia.indiatimes.com/business/india-business/amazon-swiggys-payment-processor-hit-by-data-breach/articleshow/80104462.cm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money.cnn.com/2016/09/22/technology/yahoo-data-breach/"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users.ece.cmu.edu/~koopman/pubs/koopman14_toyota_ua_slides.pdf" TargetMode="External"/><Relationship Id="rId2" Type="http://schemas.openxmlformats.org/officeDocument/2006/relationships/hyperlink" Target="https://www.edn.com/toyotas-killer-firmware-bad-design-and-its-consequences/"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bugraptors.com/blog/top-software-failures-due-to-lack-of-testing" TargetMode="External"/><Relationship Id="rId2" Type="http://schemas.openxmlformats.org/officeDocument/2006/relationships/hyperlink" Target="https://www.appsierra.com/blog/software-failures-due-to-lack-of-testing" TargetMode="External"/><Relationship Id="rId1" Type="http://schemas.openxmlformats.org/officeDocument/2006/relationships/slideLayout" Target="../slideLayouts/slideLayout2.xml"/><Relationship Id="rId4" Type="http://schemas.openxmlformats.org/officeDocument/2006/relationships/hyperlink" Target="https://blog.bitsrc.io/software-is-not-perfect-cases-of-software-failure-and-their-consequences-f5fec39c038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68200-C2F7-AB40-2E39-B04BB11B2CC9}"/>
              </a:ext>
            </a:extLst>
          </p:cNvPr>
          <p:cNvSpPr>
            <a:spLocks noGrp="1"/>
          </p:cNvSpPr>
          <p:nvPr>
            <p:ph type="ctrTitle"/>
          </p:nvPr>
        </p:nvSpPr>
        <p:spPr/>
        <p:txBody>
          <a:bodyPr/>
          <a:lstStyle/>
          <a:p>
            <a:r>
              <a:rPr lang="en-US" dirty="0"/>
              <a:t>Software Failure Examples</a:t>
            </a:r>
            <a:endParaRPr lang="en-IN" dirty="0"/>
          </a:p>
        </p:txBody>
      </p:sp>
      <p:sp>
        <p:nvSpPr>
          <p:cNvPr id="3" name="Subtitle 2">
            <a:extLst>
              <a:ext uri="{FF2B5EF4-FFF2-40B4-BE49-F238E27FC236}">
                <a16:creationId xmlns:a16="http://schemas.microsoft.com/office/drawing/2014/main" id="{830127D4-EA43-DEAB-5CB1-F4D44C4C49C5}"/>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1225572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5D416-0390-AF83-2DB5-CD64F380900D}"/>
              </a:ext>
            </a:extLst>
          </p:cNvPr>
          <p:cNvSpPr>
            <a:spLocks noGrp="1"/>
          </p:cNvSpPr>
          <p:nvPr>
            <p:ph type="title"/>
          </p:nvPr>
        </p:nvSpPr>
        <p:spPr/>
        <p:txBody>
          <a:bodyPr>
            <a:normAutofit/>
          </a:bodyPr>
          <a:lstStyle/>
          <a:p>
            <a:r>
              <a:rPr lang="en-US" b="1" i="0" dirty="0">
                <a:solidFill>
                  <a:srgbClr val="000000"/>
                </a:solidFill>
                <a:effectLst/>
                <a:latin typeface="__Manrope_cbcdd2"/>
              </a:rPr>
              <a:t>Israel’s Attempt to land on Moon fails seconds before touchdown </a:t>
            </a:r>
            <a:endParaRPr lang="en-IN" dirty="0"/>
          </a:p>
        </p:txBody>
      </p:sp>
      <p:sp>
        <p:nvSpPr>
          <p:cNvPr id="3" name="Content Placeholder 2">
            <a:extLst>
              <a:ext uri="{FF2B5EF4-FFF2-40B4-BE49-F238E27FC236}">
                <a16:creationId xmlns:a16="http://schemas.microsoft.com/office/drawing/2014/main" id="{EA865280-8FEC-D897-964F-EA68308CB416}"/>
              </a:ext>
            </a:extLst>
          </p:cNvPr>
          <p:cNvSpPr>
            <a:spLocks noGrp="1"/>
          </p:cNvSpPr>
          <p:nvPr>
            <p:ph idx="1"/>
          </p:nvPr>
        </p:nvSpPr>
        <p:spPr/>
        <p:txBody>
          <a:bodyPr>
            <a:normAutofit fontScale="92500" lnSpcReduction="10000"/>
          </a:bodyPr>
          <a:lstStyle/>
          <a:p>
            <a:pPr algn="l"/>
            <a:r>
              <a:rPr lang="en-US" b="0" i="0" dirty="0">
                <a:solidFill>
                  <a:srgbClr val="000000"/>
                </a:solidFill>
                <a:effectLst/>
                <a:latin typeface="__Manrope_cbcdd2"/>
              </a:rPr>
              <a:t>On April 11, 2019, Israel’s first lunar lander </a:t>
            </a:r>
            <a:r>
              <a:rPr lang="en-US" b="0" i="0" dirty="0" err="1">
                <a:solidFill>
                  <a:srgbClr val="000000"/>
                </a:solidFill>
                <a:effectLst/>
                <a:latin typeface="__Manrope_cbcdd2"/>
              </a:rPr>
              <a:t>Beresheet</a:t>
            </a:r>
            <a:r>
              <a:rPr lang="en-US" b="0" i="0" dirty="0">
                <a:solidFill>
                  <a:srgbClr val="000000"/>
                </a:solidFill>
                <a:effectLst/>
                <a:latin typeface="__Manrope_cbcdd2"/>
              </a:rPr>
              <a:t> crash-arrived on the Moon. </a:t>
            </a:r>
            <a:r>
              <a:rPr lang="en-US" b="0" i="0" dirty="0" err="1">
                <a:solidFill>
                  <a:srgbClr val="000000"/>
                </a:solidFill>
                <a:effectLst/>
                <a:latin typeface="__Manrope_cbcdd2"/>
              </a:rPr>
              <a:t>SpaceIL</a:t>
            </a:r>
            <a:r>
              <a:rPr lang="en-US" b="0" i="0" dirty="0">
                <a:solidFill>
                  <a:srgbClr val="000000"/>
                </a:solidFill>
                <a:effectLst/>
                <a:latin typeface="__Manrope_cbcdd2"/>
              </a:rPr>
              <a:t> dispatched its first shuttle that was booked to land on the lunar surface, yet minutes before landing, it fizzled. </a:t>
            </a:r>
          </a:p>
          <a:p>
            <a:pPr algn="l"/>
            <a:r>
              <a:rPr lang="en-US" b="0" i="0" dirty="0">
                <a:solidFill>
                  <a:srgbClr val="000000"/>
                </a:solidFill>
                <a:effectLst/>
                <a:latin typeface="__Manrope_cbcdd2"/>
              </a:rPr>
              <a:t>In the last couple of moments of its plummet, the </a:t>
            </a:r>
            <a:r>
              <a:rPr lang="en-US" b="0" i="0" dirty="0" err="1">
                <a:solidFill>
                  <a:srgbClr val="000000"/>
                </a:solidFill>
                <a:effectLst/>
                <a:latin typeface="__Manrope_cbcdd2"/>
              </a:rPr>
              <a:t>Beresheet’s</a:t>
            </a:r>
            <a:r>
              <a:rPr lang="en-US" b="0" i="0" dirty="0">
                <a:solidFill>
                  <a:srgbClr val="000000"/>
                </a:solidFill>
                <a:effectLst/>
                <a:latin typeface="__Manrope_cbcdd2"/>
              </a:rPr>
              <a:t> motor halted. The motor terminating should diminish </a:t>
            </a:r>
            <a:r>
              <a:rPr lang="en-US" b="0" i="0" dirty="0" err="1">
                <a:solidFill>
                  <a:srgbClr val="000000"/>
                </a:solidFill>
                <a:effectLst/>
                <a:latin typeface="__Manrope_cbcdd2"/>
              </a:rPr>
              <a:t>Beresheet’s</a:t>
            </a:r>
            <a:r>
              <a:rPr lang="en-US" b="0" i="0" dirty="0">
                <a:solidFill>
                  <a:srgbClr val="000000"/>
                </a:solidFill>
                <a:effectLst/>
                <a:latin typeface="__Manrope_cbcdd2"/>
              </a:rPr>
              <a:t> speed from 3700 miles each hour (6000 Km/</a:t>
            </a:r>
            <a:r>
              <a:rPr lang="en-US" b="0" i="0" dirty="0" err="1">
                <a:solidFill>
                  <a:srgbClr val="000000"/>
                </a:solidFill>
                <a:effectLst/>
                <a:latin typeface="__Manrope_cbcdd2"/>
              </a:rPr>
              <a:t>hr</a:t>
            </a:r>
            <a:r>
              <a:rPr lang="en-US" b="0" i="0" dirty="0">
                <a:solidFill>
                  <a:srgbClr val="000000"/>
                </a:solidFill>
                <a:effectLst/>
                <a:latin typeface="__Manrope_cbcdd2"/>
              </a:rPr>
              <a:t>) to nothing, however, when the rocket was around 4 miles (7 km) from the surface, it quit terminating. </a:t>
            </a:r>
          </a:p>
          <a:p>
            <a:pPr algn="l"/>
            <a:r>
              <a:rPr lang="en-US" b="0" i="0" dirty="0">
                <a:solidFill>
                  <a:srgbClr val="000000"/>
                </a:solidFill>
                <a:effectLst/>
                <a:latin typeface="__Manrope_cbcdd2"/>
              </a:rPr>
              <a:t>The mission control got the motor back on the web yet neglected to recover correspondence with the rocket, which made the lander collide with the surface. Most likely the bus came in too quick and made another pit on a superficial level – something that testing groups neglected to recognize while testing the shuttle’s product. </a:t>
            </a:r>
          </a:p>
          <a:p>
            <a:endParaRPr lang="en-IN" dirty="0"/>
          </a:p>
        </p:txBody>
      </p:sp>
    </p:spTree>
    <p:extLst>
      <p:ext uri="{BB962C8B-B14F-4D97-AF65-F5344CB8AC3E}">
        <p14:creationId xmlns:p14="http://schemas.microsoft.com/office/powerpoint/2010/main" val="80642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3A0F5-AD41-77A3-B1FE-9A807A6F48DF}"/>
              </a:ext>
            </a:extLst>
          </p:cNvPr>
          <p:cNvSpPr>
            <a:spLocks noGrp="1"/>
          </p:cNvSpPr>
          <p:nvPr>
            <p:ph type="title"/>
          </p:nvPr>
        </p:nvSpPr>
        <p:spPr/>
        <p:txBody>
          <a:bodyPr/>
          <a:lstStyle/>
          <a:p>
            <a:r>
              <a:rPr lang="en-IN" b="1" i="0" dirty="0">
                <a:solidFill>
                  <a:srgbClr val="000000"/>
                </a:solidFill>
                <a:effectLst/>
                <a:latin typeface="__Manrope_cbcdd2"/>
              </a:rPr>
              <a:t> Boeing 737 Max Crashes</a:t>
            </a:r>
            <a:endParaRPr lang="en-IN" dirty="0"/>
          </a:p>
        </p:txBody>
      </p:sp>
      <p:sp>
        <p:nvSpPr>
          <p:cNvPr id="3" name="Content Placeholder 2">
            <a:extLst>
              <a:ext uri="{FF2B5EF4-FFF2-40B4-BE49-F238E27FC236}">
                <a16:creationId xmlns:a16="http://schemas.microsoft.com/office/drawing/2014/main" id="{E1D1FDA4-4B7D-8D6E-D8DD-72B4D2A2A494}"/>
              </a:ext>
            </a:extLst>
          </p:cNvPr>
          <p:cNvSpPr>
            <a:spLocks noGrp="1"/>
          </p:cNvSpPr>
          <p:nvPr>
            <p:ph idx="1"/>
          </p:nvPr>
        </p:nvSpPr>
        <p:spPr/>
        <p:txBody>
          <a:bodyPr>
            <a:normAutofit fontScale="92500" lnSpcReduction="10000"/>
          </a:bodyPr>
          <a:lstStyle/>
          <a:p>
            <a:pPr algn="l"/>
            <a:r>
              <a:rPr lang="en-US" b="0" i="0" dirty="0">
                <a:solidFill>
                  <a:srgbClr val="000000"/>
                </a:solidFill>
                <a:effectLst/>
                <a:latin typeface="__Manrope_cbcdd2"/>
              </a:rPr>
              <a:t>The US </a:t>
            </a:r>
            <a:r>
              <a:rPr lang="en-US" b="0" i="0" dirty="0" err="1">
                <a:solidFill>
                  <a:srgbClr val="000000"/>
                </a:solidFill>
                <a:effectLst/>
                <a:latin typeface="__Manrope_cbcdd2"/>
              </a:rPr>
              <a:t>aeroplane</a:t>
            </a:r>
            <a:r>
              <a:rPr lang="en-US" b="0" i="0" dirty="0">
                <a:solidFill>
                  <a:srgbClr val="000000"/>
                </a:solidFill>
                <a:effectLst/>
                <a:latin typeface="__Manrope_cbcdd2"/>
              </a:rPr>
              <a:t> producer Boeing dispatched one of its most up-to-date models, 737 Max, and its business flight smashed off the shoreline of Indonesia in October 2018. A couple of months in the wake of chipping away at its product, another Max crash-arrived in Ethiopia in March 2019.</a:t>
            </a:r>
          </a:p>
          <a:p>
            <a:pPr algn="l"/>
            <a:r>
              <a:rPr lang="en-US" b="0" i="0" dirty="0">
                <a:solidFill>
                  <a:srgbClr val="000000"/>
                </a:solidFill>
                <a:effectLst/>
                <a:latin typeface="__Manrope_cbcdd2"/>
              </a:rPr>
              <a:t>Specialists of the accidents said that they accepted that a significant software failure assumed a part in the two accidents. 737 Max was grounded with 346 individuals dead in this mishap, bringing up issues for aeronautics throughout the planet regarding what turned out badly. </a:t>
            </a:r>
          </a:p>
          <a:p>
            <a:pPr algn="l"/>
            <a:r>
              <a:rPr lang="en-US" b="0" i="0" dirty="0">
                <a:solidFill>
                  <a:srgbClr val="000000"/>
                </a:solidFill>
                <a:effectLst/>
                <a:latin typeface="__Manrope_cbcdd2"/>
              </a:rPr>
              <a:t>The plane’s flight computer attempted to push the </a:t>
            </a:r>
            <a:r>
              <a:rPr lang="en-US" b="0" i="0" dirty="0" err="1">
                <a:solidFill>
                  <a:srgbClr val="000000"/>
                </a:solidFill>
                <a:effectLst/>
                <a:latin typeface="__Manrope_cbcdd2"/>
              </a:rPr>
              <a:t>aeroplane’s</a:t>
            </a:r>
            <a:r>
              <a:rPr lang="en-US" b="0" i="0" dirty="0">
                <a:solidFill>
                  <a:srgbClr val="000000"/>
                </a:solidFill>
                <a:effectLst/>
                <a:latin typeface="__Manrope_cbcdd2"/>
              </a:rPr>
              <a:t> nose down more than once, and pilots couldn’t get a grip of it even by enacting the stabilizers. Investigators and FAA pilots have recognized that this didn’t happen because of an equipment deficiency. </a:t>
            </a:r>
          </a:p>
          <a:p>
            <a:endParaRPr lang="en-IN" dirty="0"/>
          </a:p>
        </p:txBody>
      </p:sp>
    </p:spTree>
    <p:extLst>
      <p:ext uri="{BB962C8B-B14F-4D97-AF65-F5344CB8AC3E}">
        <p14:creationId xmlns:p14="http://schemas.microsoft.com/office/powerpoint/2010/main" val="22154041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FB781-D9F0-51EA-8E80-4754D143AB99}"/>
              </a:ext>
            </a:extLst>
          </p:cNvPr>
          <p:cNvSpPr>
            <a:spLocks noGrp="1"/>
          </p:cNvSpPr>
          <p:nvPr>
            <p:ph type="title"/>
          </p:nvPr>
        </p:nvSpPr>
        <p:spPr/>
        <p:txBody>
          <a:bodyPr>
            <a:normAutofit/>
          </a:bodyPr>
          <a:lstStyle/>
          <a:p>
            <a:r>
              <a:rPr lang="en-US" b="1" i="0" dirty="0">
                <a:solidFill>
                  <a:srgbClr val="000000"/>
                </a:solidFill>
                <a:effectLst/>
                <a:latin typeface="__Manrope_cbcdd2"/>
              </a:rPr>
              <a:t>English Airways flights cancelled due to failed computer systems </a:t>
            </a:r>
            <a:endParaRPr lang="en-IN" dirty="0"/>
          </a:p>
        </p:txBody>
      </p:sp>
      <p:sp>
        <p:nvSpPr>
          <p:cNvPr id="3" name="Content Placeholder 2">
            <a:extLst>
              <a:ext uri="{FF2B5EF4-FFF2-40B4-BE49-F238E27FC236}">
                <a16:creationId xmlns:a16="http://schemas.microsoft.com/office/drawing/2014/main" id="{B0BBD7DD-A391-90D9-9408-8E479A77596F}"/>
              </a:ext>
            </a:extLst>
          </p:cNvPr>
          <p:cNvSpPr>
            <a:spLocks noGrp="1"/>
          </p:cNvSpPr>
          <p:nvPr>
            <p:ph idx="1"/>
          </p:nvPr>
        </p:nvSpPr>
        <p:spPr/>
        <p:txBody>
          <a:bodyPr/>
          <a:lstStyle/>
          <a:p>
            <a:pPr algn="l"/>
            <a:r>
              <a:rPr lang="en-US" b="0" i="0" dirty="0">
                <a:solidFill>
                  <a:srgbClr val="000000"/>
                </a:solidFill>
                <a:effectLst/>
                <a:latin typeface="__Manrope_cbcdd2"/>
              </a:rPr>
              <a:t>On August 7, 2019, British Airways </a:t>
            </a:r>
            <a:r>
              <a:rPr lang="en-US" b="0" i="0" dirty="0" err="1">
                <a:solidFill>
                  <a:srgbClr val="000000"/>
                </a:solidFill>
                <a:effectLst/>
                <a:latin typeface="__Manrope_cbcdd2"/>
              </a:rPr>
              <a:t>travellers</a:t>
            </a:r>
            <a:r>
              <a:rPr lang="en-US" b="0" i="0" dirty="0">
                <a:solidFill>
                  <a:srgbClr val="000000"/>
                </a:solidFill>
                <a:effectLst/>
                <a:latin typeface="__Manrope_cbcdd2"/>
              </a:rPr>
              <a:t> were left abandoned due to more than 100 dropped flights. These </a:t>
            </a:r>
            <a:r>
              <a:rPr lang="en-US" b="0" i="0" dirty="0" err="1">
                <a:solidFill>
                  <a:srgbClr val="000000"/>
                </a:solidFill>
                <a:effectLst/>
                <a:latin typeface="__Manrope_cbcdd2"/>
              </a:rPr>
              <a:t>abrogations</a:t>
            </a:r>
            <a:r>
              <a:rPr lang="en-US" b="0" i="0" dirty="0">
                <a:solidFill>
                  <a:srgbClr val="000000"/>
                </a:solidFill>
                <a:effectLst/>
                <a:latin typeface="__Manrope_cbcdd2"/>
              </a:rPr>
              <a:t> influenced a large number of explorers utilizing Heathrow and Gatwick air terminals in the UK. </a:t>
            </a:r>
          </a:p>
          <a:p>
            <a:pPr algn="l"/>
            <a:r>
              <a:rPr lang="en-US" b="0" i="0" dirty="0">
                <a:solidFill>
                  <a:srgbClr val="000000"/>
                </a:solidFill>
                <a:effectLst/>
                <a:latin typeface="__Manrope_cbcdd2"/>
              </a:rPr>
              <a:t>Possessed by International Airlines Group (ICAGY), British Airways asserted that a significant defect in programming had made their frameworks go disconnected. It isn’t the first run-through in history that the carrier endured a PC crash. </a:t>
            </a:r>
          </a:p>
          <a:p>
            <a:endParaRPr lang="en-IN" dirty="0"/>
          </a:p>
        </p:txBody>
      </p:sp>
    </p:spTree>
    <p:extLst>
      <p:ext uri="{BB962C8B-B14F-4D97-AF65-F5344CB8AC3E}">
        <p14:creationId xmlns:p14="http://schemas.microsoft.com/office/powerpoint/2010/main" val="42067898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D4C3B-04B0-ECBC-A853-3ED11EDD905D}"/>
              </a:ext>
            </a:extLst>
          </p:cNvPr>
          <p:cNvSpPr>
            <a:spLocks noGrp="1"/>
          </p:cNvSpPr>
          <p:nvPr>
            <p:ph type="title"/>
          </p:nvPr>
        </p:nvSpPr>
        <p:spPr/>
        <p:txBody>
          <a:bodyPr>
            <a:normAutofit/>
          </a:bodyPr>
          <a:lstStyle/>
          <a:p>
            <a:r>
              <a:rPr lang="en-US" b="1" i="0" dirty="0">
                <a:solidFill>
                  <a:srgbClr val="000000"/>
                </a:solidFill>
                <a:effectLst/>
                <a:latin typeface="__Manrope_cbcdd2"/>
              </a:rPr>
              <a:t>Self-driving Uber car kills pedestrian in Arizona </a:t>
            </a:r>
            <a:endParaRPr lang="en-IN" dirty="0"/>
          </a:p>
        </p:txBody>
      </p:sp>
      <p:sp>
        <p:nvSpPr>
          <p:cNvPr id="3" name="Content Placeholder 2">
            <a:extLst>
              <a:ext uri="{FF2B5EF4-FFF2-40B4-BE49-F238E27FC236}">
                <a16:creationId xmlns:a16="http://schemas.microsoft.com/office/drawing/2014/main" id="{E95D2B9B-74AB-58EB-10A6-E4F571B1FCE2}"/>
              </a:ext>
            </a:extLst>
          </p:cNvPr>
          <p:cNvSpPr>
            <a:spLocks noGrp="1"/>
          </p:cNvSpPr>
          <p:nvPr>
            <p:ph idx="1"/>
          </p:nvPr>
        </p:nvSpPr>
        <p:spPr/>
        <p:txBody>
          <a:bodyPr/>
          <a:lstStyle/>
          <a:p>
            <a:pPr algn="l"/>
            <a:r>
              <a:rPr lang="en-US" b="0" i="0" dirty="0">
                <a:solidFill>
                  <a:srgbClr val="000000"/>
                </a:solidFill>
                <a:effectLst/>
                <a:latin typeface="__Manrope_cbcdd2"/>
              </a:rPr>
              <a:t>A person on foot was murdered by a Uber vehicle in Arizona on March 21. The casualty couldn’t make it due because of serious wounds and kicked the bucket in the medical clinic. Self-driving vehicles are famously promoted as a lot more secure substitute for driving. </a:t>
            </a:r>
          </a:p>
          <a:p>
            <a:pPr algn="l"/>
            <a:r>
              <a:rPr lang="en-US" b="0" i="0" dirty="0">
                <a:solidFill>
                  <a:srgbClr val="000000"/>
                </a:solidFill>
                <a:effectLst/>
                <a:latin typeface="__Manrope_cbcdd2"/>
              </a:rPr>
              <a:t>This is because it had the most recent sensors and innovations to prevent such accidents. In this specific case, the software failed to see the pedestrian, consequently, the accident happened. </a:t>
            </a:r>
          </a:p>
          <a:p>
            <a:endParaRPr lang="en-IN" dirty="0"/>
          </a:p>
        </p:txBody>
      </p:sp>
    </p:spTree>
    <p:extLst>
      <p:ext uri="{BB962C8B-B14F-4D97-AF65-F5344CB8AC3E}">
        <p14:creationId xmlns:p14="http://schemas.microsoft.com/office/powerpoint/2010/main" val="15187042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F879F-7147-D8E8-B9F0-BB1A3719ACCC}"/>
              </a:ext>
            </a:extLst>
          </p:cNvPr>
          <p:cNvSpPr>
            <a:spLocks noGrp="1"/>
          </p:cNvSpPr>
          <p:nvPr>
            <p:ph type="title"/>
          </p:nvPr>
        </p:nvSpPr>
        <p:spPr/>
        <p:txBody>
          <a:bodyPr>
            <a:normAutofit/>
          </a:bodyPr>
          <a:lstStyle/>
          <a:p>
            <a:r>
              <a:rPr lang="en-US" b="1" i="0" dirty="0">
                <a:solidFill>
                  <a:srgbClr val="000000"/>
                </a:solidFill>
                <a:effectLst/>
                <a:latin typeface="__Manrope_cbcdd2"/>
              </a:rPr>
              <a:t>Security flaw detected on the whole Intel processing chips </a:t>
            </a:r>
            <a:endParaRPr lang="en-IN" dirty="0"/>
          </a:p>
        </p:txBody>
      </p:sp>
      <p:sp>
        <p:nvSpPr>
          <p:cNvPr id="3" name="Content Placeholder 2">
            <a:extLst>
              <a:ext uri="{FF2B5EF4-FFF2-40B4-BE49-F238E27FC236}">
                <a16:creationId xmlns:a16="http://schemas.microsoft.com/office/drawing/2014/main" id="{592DEC13-FA20-37EF-1F7E-3C08CB94F6F8}"/>
              </a:ext>
            </a:extLst>
          </p:cNvPr>
          <p:cNvSpPr>
            <a:spLocks noGrp="1"/>
          </p:cNvSpPr>
          <p:nvPr>
            <p:ph idx="1"/>
          </p:nvPr>
        </p:nvSpPr>
        <p:spPr/>
        <p:txBody>
          <a:bodyPr/>
          <a:lstStyle/>
          <a:p>
            <a:pPr algn="l"/>
            <a:r>
              <a:rPr lang="en-US" b="0" i="0" dirty="0">
                <a:solidFill>
                  <a:srgbClr val="000000"/>
                </a:solidFill>
                <a:effectLst/>
                <a:latin typeface="__Manrope_cbcdd2"/>
              </a:rPr>
              <a:t>Security analysts identified a security error that is available taking all things together Intel preparing chips made in the previous 10 years. The susceptibility makes the opportunities for regularly utilized projects to incompletely recognize the substance and design of data saved in secured memory nuts. </a:t>
            </a:r>
          </a:p>
          <a:p>
            <a:pPr algn="l"/>
            <a:r>
              <a:rPr lang="en-US" b="0" i="0" dirty="0">
                <a:solidFill>
                  <a:srgbClr val="000000"/>
                </a:solidFill>
                <a:effectLst/>
                <a:latin typeface="__Manrope_cbcdd2"/>
              </a:rPr>
              <a:t>Organizations using the chips in their equipment are confused to start building up the helplessness. We as a whole realize the brand names like BMW, Google, Android, and Apple. The names of the creative organizations that offer the parts that make up an acclaimed item are new. </a:t>
            </a:r>
          </a:p>
          <a:p>
            <a:endParaRPr lang="en-IN" dirty="0"/>
          </a:p>
        </p:txBody>
      </p:sp>
    </p:spTree>
    <p:extLst>
      <p:ext uri="{BB962C8B-B14F-4D97-AF65-F5344CB8AC3E}">
        <p14:creationId xmlns:p14="http://schemas.microsoft.com/office/powerpoint/2010/main" val="12115000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6C216-35E2-B8FE-527B-D4F1B956AE24}"/>
              </a:ext>
            </a:extLst>
          </p:cNvPr>
          <p:cNvSpPr>
            <a:spLocks noGrp="1"/>
          </p:cNvSpPr>
          <p:nvPr>
            <p:ph type="title"/>
          </p:nvPr>
        </p:nvSpPr>
        <p:spPr/>
        <p:txBody>
          <a:bodyPr>
            <a:normAutofit/>
          </a:bodyPr>
          <a:lstStyle/>
          <a:p>
            <a:r>
              <a:rPr lang="en-US" b="0" i="0" dirty="0">
                <a:solidFill>
                  <a:srgbClr val="212529"/>
                </a:solidFill>
                <a:effectLst/>
                <a:latin typeface="Plus Jakarta Sans"/>
              </a:rPr>
              <a:t>Amazon Partner </a:t>
            </a:r>
            <a:r>
              <a:rPr lang="en-US" b="0" i="0" dirty="0" err="1">
                <a:solidFill>
                  <a:srgbClr val="212529"/>
                </a:solidFill>
                <a:effectLst/>
                <a:latin typeface="Plus Jakarta Sans"/>
              </a:rPr>
              <a:t>Juspay</a:t>
            </a:r>
            <a:r>
              <a:rPr lang="en-US" b="0" i="0" dirty="0">
                <a:solidFill>
                  <a:srgbClr val="212529"/>
                </a:solidFill>
                <a:effectLst/>
                <a:latin typeface="Plus Jakarta Sans"/>
              </a:rPr>
              <a:t> Shamed Online - Data Breach Case</a:t>
            </a:r>
            <a:endParaRPr lang="en-IN" dirty="0"/>
          </a:p>
        </p:txBody>
      </p:sp>
      <p:sp>
        <p:nvSpPr>
          <p:cNvPr id="3" name="Content Placeholder 2">
            <a:extLst>
              <a:ext uri="{FF2B5EF4-FFF2-40B4-BE49-F238E27FC236}">
                <a16:creationId xmlns:a16="http://schemas.microsoft.com/office/drawing/2014/main" id="{4AD4D0FC-AC27-C406-A76B-E4784750586C}"/>
              </a:ext>
            </a:extLst>
          </p:cNvPr>
          <p:cNvSpPr>
            <a:spLocks noGrp="1"/>
          </p:cNvSpPr>
          <p:nvPr>
            <p:ph idx="1"/>
          </p:nvPr>
        </p:nvSpPr>
        <p:spPr/>
        <p:txBody>
          <a:bodyPr>
            <a:normAutofit lnSpcReduction="10000"/>
          </a:bodyPr>
          <a:lstStyle/>
          <a:p>
            <a:pPr algn="l"/>
            <a:r>
              <a:rPr lang="en-US" b="0" i="0" dirty="0" err="1">
                <a:solidFill>
                  <a:srgbClr val="212529"/>
                </a:solidFill>
                <a:effectLst/>
                <a:latin typeface="Plus Jakarta Sans"/>
              </a:rPr>
              <a:t>Juspay</a:t>
            </a:r>
            <a:r>
              <a:rPr lang="en-US" b="0" i="0" dirty="0">
                <a:solidFill>
                  <a:srgbClr val="212529"/>
                </a:solidFill>
                <a:effectLst/>
                <a:latin typeface="Plus Jakarta Sans"/>
              </a:rPr>
              <a:t>, the Bengaluru-based start-up in India, has a partnership with the most popular online retailers such as Amazon, MakeMyTrip, Swiggy, </a:t>
            </a:r>
            <a:r>
              <a:rPr lang="en-US" b="0" i="0" dirty="0" err="1">
                <a:solidFill>
                  <a:srgbClr val="212529"/>
                </a:solidFill>
                <a:effectLst/>
                <a:latin typeface="Plus Jakarta Sans"/>
              </a:rPr>
              <a:t>FreeCharge</a:t>
            </a:r>
            <a:r>
              <a:rPr lang="en-US" b="0" i="0" dirty="0">
                <a:solidFill>
                  <a:srgbClr val="212529"/>
                </a:solidFill>
                <a:effectLst/>
                <a:latin typeface="Plus Jakarta Sans"/>
              </a:rPr>
              <a:t>, Yatra, Snapdeal, and </a:t>
            </a:r>
            <a:r>
              <a:rPr lang="en-US" b="0" i="0" dirty="0" err="1">
                <a:solidFill>
                  <a:srgbClr val="212529"/>
                </a:solidFill>
                <a:effectLst/>
                <a:latin typeface="Plus Jakarta Sans"/>
              </a:rPr>
              <a:t>BookMyShow</a:t>
            </a:r>
            <a:r>
              <a:rPr lang="en-US" b="0" i="0" dirty="0">
                <a:solidFill>
                  <a:srgbClr val="212529"/>
                </a:solidFill>
                <a:effectLst/>
                <a:latin typeface="Plus Jakarta Sans"/>
              </a:rPr>
              <a:t>. According to </a:t>
            </a:r>
            <a:r>
              <a:rPr lang="en-US" b="0" i="0" u="sng" dirty="0">
                <a:solidFill>
                  <a:srgbClr val="212529"/>
                </a:solidFill>
                <a:effectLst/>
                <a:latin typeface="Plus Jakarta Sans"/>
                <a:hlinkClick r:id="rId2"/>
              </a:rPr>
              <a:t>TOI reports</a:t>
            </a:r>
            <a:r>
              <a:rPr lang="en-US" b="0" i="0" dirty="0">
                <a:solidFill>
                  <a:srgbClr val="212529"/>
                </a:solidFill>
                <a:effectLst/>
                <a:latin typeface="Plus Jakarta Sans"/>
              </a:rPr>
              <a:t>, the payment services provider </a:t>
            </a:r>
            <a:r>
              <a:rPr lang="en-US" b="0" i="0" dirty="0" err="1">
                <a:solidFill>
                  <a:srgbClr val="212529"/>
                </a:solidFill>
                <a:effectLst/>
                <a:latin typeface="Plus Jakarta Sans"/>
              </a:rPr>
              <a:t>Juspay</a:t>
            </a:r>
            <a:r>
              <a:rPr lang="en-US" b="0" i="0" dirty="0">
                <a:solidFill>
                  <a:srgbClr val="212529"/>
                </a:solidFill>
                <a:effectLst/>
                <a:latin typeface="Plus Jakarta Sans"/>
              </a:rPr>
              <a:t> dumped online due to the data breach case that took place in August 2020.</a:t>
            </a:r>
          </a:p>
          <a:p>
            <a:pPr algn="l"/>
            <a:r>
              <a:rPr lang="en-US" b="0" i="0" dirty="0">
                <a:solidFill>
                  <a:srgbClr val="212529"/>
                </a:solidFill>
                <a:effectLst/>
                <a:latin typeface="Plus Jakarta Sans"/>
              </a:rPr>
              <a:t>Security researcher </a:t>
            </a:r>
            <a:r>
              <a:rPr lang="en-US" b="0" i="0" u="sng" dirty="0" err="1">
                <a:solidFill>
                  <a:srgbClr val="212529"/>
                </a:solidFill>
                <a:effectLst/>
                <a:latin typeface="Plus Jakarta Sans"/>
                <a:hlinkClick r:id="rId3"/>
              </a:rPr>
              <a:t>Rajshekhar</a:t>
            </a:r>
            <a:r>
              <a:rPr lang="en-US" b="0" i="0" u="sng" dirty="0">
                <a:solidFill>
                  <a:srgbClr val="212529"/>
                </a:solidFill>
                <a:effectLst/>
                <a:latin typeface="Plus Jakarta Sans"/>
                <a:hlinkClick r:id="rId3"/>
              </a:rPr>
              <a:t> </a:t>
            </a:r>
            <a:r>
              <a:rPr lang="en-US" b="0" i="0" u="sng" dirty="0" err="1">
                <a:solidFill>
                  <a:srgbClr val="212529"/>
                </a:solidFill>
                <a:effectLst/>
                <a:latin typeface="Plus Jakarta Sans"/>
                <a:hlinkClick r:id="rId3"/>
              </a:rPr>
              <a:t>Rajaharia</a:t>
            </a:r>
            <a:r>
              <a:rPr lang="en-US" b="0" i="0" dirty="0">
                <a:solidFill>
                  <a:srgbClr val="212529"/>
                </a:solidFill>
                <a:effectLst/>
                <a:latin typeface="Plus Jakarta Sans"/>
              </a:rPr>
              <a:t> found data of 10 crore Indian credit-card holders from a breach that happened on a </a:t>
            </a:r>
            <a:r>
              <a:rPr lang="en-US" b="0" i="0" dirty="0" err="1">
                <a:solidFill>
                  <a:srgbClr val="212529"/>
                </a:solidFill>
                <a:effectLst/>
                <a:latin typeface="Plus Jakarta Sans"/>
              </a:rPr>
              <a:t>Juspay</a:t>
            </a:r>
            <a:r>
              <a:rPr lang="en-US" b="0" i="0" dirty="0">
                <a:solidFill>
                  <a:srgbClr val="212529"/>
                </a:solidFill>
                <a:effectLst/>
                <a:latin typeface="Plus Jakarta Sans"/>
              </a:rPr>
              <a:t> server on Aug. 18. The data involved sensitive information of the card holders like the name, bank name, and the mobile number of customers whose payment information went through the service of this company, tweeted by </a:t>
            </a:r>
            <a:r>
              <a:rPr lang="en-US" b="0" i="0" dirty="0" err="1">
                <a:solidFill>
                  <a:srgbClr val="212529"/>
                </a:solidFill>
                <a:effectLst/>
                <a:latin typeface="Plus Jakarta Sans"/>
              </a:rPr>
              <a:t>Rajaharia</a:t>
            </a:r>
            <a:r>
              <a:rPr lang="en-US" b="0" i="0" dirty="0">
                <a:solidFill>
                  <a:srgbClr val="212529"/>
                </a:solidFill>
                <a:effectLst/>
                <a:latin typeface="Plus Jakarta Sans"/>
              </a:rPr>
              <a:t> on Jan 3, 2021, with an edited screenshot of some of the data.</a:t>
            </a:r>
          </a:p>
          <a:p>
            <a:endParaRPr lang="en-IN" dirty="0"/>
          </a:p>
        </p:txBody>
      </p:sp>
    </p:spTree>
    <p:extLst>
      <p:ext uri="{BB962C8B-B14F-4D97-AF65-F5344CB8AC3E}">
        <p14:creationId xmlns:p14="http://schemas.microsoft.com/office/powerpoint/2010/main" val="2305590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42268-0DD3-F47A-8AB7-AF1A3CFE5E4D}"/>
              </a:ext>
            </a:extLst>
          </p:cNvPr>
          <p:cNvSpPr>
            <a:spLocks noGrp="1"/>
          </p:cNvSpPr>
          <p:nvPr>
            <p:ph type="title"/>
          </p:nvPr>
        </p:nvSpPr>
        <p:spPr/>
        <p:txBody>
          <a:bodyPr/>
          <a:lstStyle/>
          <a:p>
            <a:r>
              <a:rPr lang="en-US" b="0" i="0" dirty="0">
                <a:solidFill>
                  <a:srgbClr val="212529"/>
                </a:solidFill>
                <a:effectLst/>
                <a:latin typeface="Plus Jakarta Sans"/>
              </a:rPr>
              <a:t>Yahoo Confirmation on Massive Data Breach</a:t>
            </a:r>
            <a:endParaRPr lang="en-IN" dirty="0"/>
          </a:p>
        </p:txBody>
      </p:sp>
      <p:sp>
        <p:nvSpPr>
          <p:cNvPr id="3" name="Content Placeholder 2">
            <a:extLst>
              <a:ext uri="{FF2B5EF4-FFF2-40B4-BE49-F238E27FC236}">
                <a16:creationId xmlns:a16="http://schemas.microsoft.com/office/drawing/2014/main" id="{8B810A01-3716-575F-7682-526649ADE4FD}"/>
              </a:ext>
            </a:extLst>
          </p:cNvPr>
          <p:cNvSpPr>
            <a:spLocks noGrp="1"/>
          </p:cNvSpPr>
          <p:nvPr>
            <p:ph idx="1"/>
          </p:nvPr>
        </p:nvSpPr>
        <p:spPr/>
        <p:txBody>
          <a:bodyPr/>
          <a:lstStyle/>
          <a:p>
            <a:r>
              <a:rPr lang="en-US" b="0" i="0" dirty="0">
                <a:solidFill>
                  <a:srgbClr val="212529"/>
                </a:solidFill>
                <a:effectLst/>
                <a:latin typeface="Plus Jakarta Sans"/>
              </a:rPr>
              <a:t>It is one of the recent</a:t>
            </a:r>
            <a:r>
              <a:rPr lang="en-US" b="1" i="0" dirty="0">
                <a:solidFill>
                  <a:srgbClr val="212529"/>
                </a:solidFill>
                <a:effectLst/>
                <a:latin typeface="Plus Jakarta Sans"/>
              </a:rPr>
              <a:t> </a:t>
            </a:r>
            <a:r>
              <a:rPr lang="en-US" b="0" i="0" u="sng" dirty="0">
                <a:effectLst/>
                <a:latin typeface="Plus Jakarta Sans"/>
                <a:hlinkClick r:id="rId2"/>
              </a:rPr>
              <a:t>software failures</a:t>
            </a:r>
            <a:r>
              <a:rPr lang="en-US" b="1" i="0" dirty="0">
                <a:solidFill>
                  <a:srgbClr val="212529"/>
                </a:solidFill>
                <a:effectLst/>
                <a:latin typeface="Plus Jakarta Sans"/>
              </a:rPr>
              <a:t> </a:t>
            </a:r>
            <a:r>
              <a:rPr lang="en-US" b="0" i="0" dirty="0">
                <a:solidFill>
                  <a:srgbClr val="212529"/>
                </a:solidFill>
                <a:effectLst/>
                <a:latin typeface="Plus Jakarta Sans"/>
              </a:rPr>
              <a:t>confirmed by Yahoo itself on September 22, 2016. Yahoo claimed that a copy of specific user account information was stolen from the organization’s network. The account information may have involved email addresses, names, dates of birth, telephone numbers, hashed passwords, and in most cases, unencrypted and encrypted security questions and answers. The investigation proposed that stolen information didn’t contain payment card data, unprotected passwords, and bank account information. Yahoo believes that information associated with about 500 million user accounts was stolen.</a:t>
            </a:r>
            <a:endParaRPr lang="en-IN" dirty="0"/>
          </a:p>
        </p:txBody>
      </p:sp>
    </p:spTree>
    <p:extLst>
      <p:ext uri="{BB962C8B-B14F-4D97-AF65-F5344CB8AC3E}">
        <p14:creationId xmlns:p14="http://schemas.microsoft.com/office/powerpoint/2010/main" val="1641957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515CF-C3DB-ED86-ECA4-A33359EF03DE}"/>
              </a:ext>
            </a:extLst>
          </p:cNvPr>
          <p:cNvSpPr>
            <a:spLocks noGrp="1"/>
          </p:cNvSpPr>
          <p:nvPr>
            <p:ph type="title"/>
          </p:nvPr>
        </p:nvSpPr>
        <p:spPr/>
        <p:txBody>
          <a:bodyPr>
            <a:normAutofit/>
          </a:bodyPr>
          <a:lstStyle/>
          <a:p>
            <a:r>
              <a:rPr lang="en-US" b="0" i="0" dirty="0">
                <a:solidFill>
                  <a:srgbClr val="212529"/>
                </a:solidFill>
                <a:effectLst/>
                <a:latin typeface="Plus Jakarta Sans"/>
              </a:rPr>
              <a:t>Memory Failure - Tesla Recalls 135,000 Vehicles</a:t>
            </a:r>
            <a:endParaRPr lang="en-IN" dirty="0"/>
          </a:p>
        </p:txBody>
      </p:sp>
      <p:sp>
        <p:nvSpPr>
          <p:cNvPr id="3" name="Content Placeholder 2">
            <a:extLst>
              <a:ext uri="{FF2B5EF4-FFF2-40B4-BE49-F238E27FC236}">
                <a16:creationId xmlns:a16="http://schemas.microsoft.com/office/drawing/2014/main" id="{61750260-F9C9-0811-82A3-A25FB55B26E6}"/>
              </a:ext>
            </a:extLst>
          </p:cNvPr>
          <p:cNvSpPr>
            <a:spLocks noGrp="1"/>
          </p:cNvSpPr>
          <p:nvPr>
            <p:ph idx="1"/>
          </p:nvPr>
        </p:nvSpPr>
        <p:spPr/>
        <p:txBody>
          <a:bodyPr/>
          <a:lstStyle/>
          <a:p>
            <a:pPr algn="l"/>
            <a:r>
              <a:rPr lang="en-US" b="0" i="0" dirty="0">
                <a:solidFill>
                  <a:srgbClr val="212529"/>
                </a:solidFill>
                <a:effectLst/>
                <a:latin typeface="Plus Jakarta Sans"/>
              </a:rPr>
              <a:t>Tesla will recall a maximum of 135,000 cars to fix computer memory issues in the touchscreen that could cause a loss of some features notified by the electric car manufacturer to the U.S NHTSA (National Highway Traffic Safety Administration).</a:t>
            </a:r>
          </a:p>
          <a:p>
            <a:pPr algn="l"/>
            <a:r>
              <a:rPr lang="en-US" b="0" i="0" dirty="0">
                <a:solidFill>
                  <a:srgbClr val="212529"/>
                </a:solidFill>
                <a:effectLst/>
                <a:latin typeface="Plus Jakarta Sans"/>
              </a:rPr>
              <a:t>The manufacturer said that the touchscreen’s flash memory reaches the end of its lifespan. It can trigger failures of the software components of the </a:t>
            </a:r>
            <a:r>
              <a:rPr lang="en-US" b="0" i="0" dirty="0" err="1">
                <a:solidFill>
                  <a:srgbClr val="212529"/>
                </a:solidFill>
                <a:effectLst/>
                <a:latin typeface="Plus Jakarta Sans"/>
              </a:rPr>
              <a:t>centre</a:t>
            </a:r>
            <a:r>
              <a:rPr lang="en-US" b="0" i="0" dirty="0">
                <a:solidFill>
                  <a:srgbClr val="212529"/>
                </a:solidFill>
                <a:effectLst/>
                <a:latin typeface="Plus Jakarta Sans"/>
              </a:rPr>
              <a:t> monitor and can unintentionally lead to the loss of external turn signal lighting, rearview camera display, and defog/defrost control settings.</a:t>
            </a:r>
          </a:p>
          <a:p>
            <a:endParaRPr lang="en-IN" dirty="0"/>
          </a:p>
        </p:txBody>
      </p:sp>
    </p:spTree>
    <p:extLst>
      <p:ext uri="{BB962C8B-B14F-4D97-AF65-F5344CB8AC3E}">
        <p14:creationId xmlns:p14="http://schemas.microsoft.com/office/powerpoint/2010/main" val="32915399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747C1-0A34-4B92-D377-6B718229DA6A}"/>
              </a:ext>
            </a:extLst>
          </p:cNvPr>
          <p:cNvSpPr>
            <a:spLocks noGrp="1"/>
          </p:cNvSpPr>
          <p:nvPr>
            <p:ph type="title"/>
          </p:nvPr>
        </p:nvSpPr>
        <p:spPr/>
        <p:txBody>
          <a:bodyPr/>
          <a:lstStyle/>
          <a:p>
            <a:r>
              <a:rPr lang="en-IN" b="0" i="0" dirty="0">
                <a:solidFill>
                  <a:srgbClr val="212529"/>
                </a:solidFill>
                <a:effectLst/>
                <a:latin typeface="Plus Jakarta Sans"/>
              </a:rPr>
              <a:t>Super Buggy Spacecraft Launch</a:t>
            </a:r>
            <a:endParaRPr lang="en-IN" dirty="0"/>
          </a:p>
        </p:txBody>
      </p:sp>
      <p:sp>
        <p:nvSpPr>
          <p:cNvPr id="3" name="Content Placeholder 2">
            <a:extLst>
              <a:ext uri="{FF2B5EF4-FFF2-40B4-BE49-F238E27FC236}">
                <a16:creationId xmlns:a16="http://schemas.microsoft.com/office/drawing/2014/main" id="{82882224-3A28-01FF-F988-391FA55A452F}"/>
              </a:ext>
            </a:extLst>
          </p:cNvPr>
          <p:cNvSpPr>
            <a:spLocks noGrp="1"/>
          </p:cNvSpPr>
          <p:nvPr>
            <p:ph idx="1"/>
          </p:nvPr>
        </p:nvSpPr>
        <p:spPr/>
        <p:txBody>
          <a:bodyPr/>
          <a:lstStyle/>
          <a:p>
            <a:pPr algn="l"/>
            <a:r>
              <a:rPr lang="en-US" b="0" i="0" dirty="0">
                <a:solidFill>
                  <a:srgbClr val="212529"/>
                </a:solidFill>
                <a:effectLst/>
                <a:latin typeface="Plus Jakarta Sans"/>
              </a:rPr>
              <a:t>Software failure types are different for sure, but Boeing's glitchy software errors are hard to ignore. Boeing's disastrous software not only killed 346 people but also destroyed the 737 max aircraft.</a:t>
            </a:r>
          </a:p>
          <a:p>
            <a:pPr algn="l"/>
            <a:r>
              <a:rPr lang="en-US" b="0" i="0" dirty="0">
                <a:solidFill>
                  <a:srgbClr val="212529"/>
                </a:solidFill>
                <a:effectLst/>
                <a:latin typeface="Plus Jakarta Sans"/>
              </a:rPr>
              <a:t>Its CST-100 Starliner spacecraft proved successful, but due to the technical coding errors in the company’s software, the initiative of investigating the software malfunction was taken by NASA.</a:t>
            </a:r>
          </a:p>
          <a:p>
            <a:br>
              <a:rPr lang="en-US" b="0" i="0" dirty="0">
                <a:solidFill>
                  <a:srgbClr val="212529"/>
                </a:solidFill>
                <a:effectLst/>
                <a:latin typeface="Plus Jakarta Sans"/>
              </a:rPr>
            </a:br>
            <a:endParaRPr lang="en-IN" dirty="0"/>
          </a:p>
        </p:txBody>
      </p:sp>
    </p:spTree>
    <p:extLst>
      <p:ext uri="{BB962C8B-B14F-4D97-AF65-F5344CB8AC3E}">
        <p14:creationId xmlns:p14="http://schemas.microsoft.com/office/powerpoint/2010/main" val="3406486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FEA64-1216-E0C7-0606-8B200C55BFFF}"/>
              </a:ext>
            </a:extLst>
          </p:cNvPr>
          <p:cNvSpPr>
            <a:spLocks noGrp="1"/>
          </p:cNvSpPr>
          <p:nvPr>
            <p:ph type="title"/>
          </p:nvPr>
        </p:nvSpPr>
        <p:spPr/>
        <p:txBody>
          <a:bodyPr/>
          <a:lstStyle/>
          <a:p>
            <a:r>
              <a:rPr lang="en-US" b="0" i="0" dirty="0">
                <a:solidFill>
                  <a:srgbClr val="19191E"/>
                </a:solidFill>
                <a:effectLst/>
                <a:latin typeface="EuclidCircularB-Regular"/>
              </a:rPr>
              <a:t>Toyota software glitches killed 89 people</a:t>
            </a:r>
            <a:endParaRPr lang="en-IN" dirty="0"/>
          </a:p>
        </p:txBody>
      </p:sp>
      <p:sp>
        <p:nvSpPr>
          <p:cNvPr id="3" name="Content Placeholder 2">
            <a:extLst>
              <a:ext uri="{FF2B5EF4-FFF2-40B4-BE49-F238E27FC236}">
                <a16:creationId xmlns:a16="http://schemas.microsoft.com/office/drawing/2014/main" id="{6122FA99-29E2-9A68-FE07-DD1AA7462C0A}"/>
              </a:ext>
            </a:extLst>
          </p:cNvPr>
          <p:cNvSpPr>
            <a:spLocks noGrp="1"/>
          </p:cNvSpPr>
          <p:nvPr>
            <p:ph idx="1"/>
          </p:nvPr>
        </p:nvSpPr>
        <p:spPr/>
        <p:txBody>
          <a:bodyPr>
            <a:normAutofit lnSpcReduction="10000"/>
          </a:bodyPr>
          <a:lstStyle/>
          <a:p>
            <a:r>
              <a:rPr lang="en-US" b="0" i="0" dirty="0">
                <a:solidFill>
                  <a:srgbClr val="19191E"/>
                </a:solidFill>
                <a:effectLst/>
                <a:latin typeface="Open Sans" panose="020F0502020204030204" pitchFamily="34" charset="0"/>
              </a:rPr>
              <a:t>Toyota had to recall more than 8 million cars due to software errors. Some vehicles were accelerating, even when the gas pedal was not touched. Investigation showed that systems were </a:t>
            </a:r>
            <a:r>
              <a:rPr lang="en-US" b="0" i="0" u="none" strike="noStrike" dirty="0">
                <a:solidFill>
                  <a:srgbClr val="5384FB"/>
                </a:solidFill>
                <a:effectLst/>
                <a:latin typeface="Open Sans" panose="020F0502020204030204" pitchFamily="34" charset="0"/>
                <a:hlinkClick r:id="rId2"/>
              </a:rPr>
              <a:t>badly designed, and had poor quality</a:t>
            </a:r>
            <a:r>
              <a:rPr lang="en-US" b="0" i="0" dirty="0">
                <a:solidFill>
                  <a:srgbClr val="19191E"/>
                </a:solidFill>
                <a:effectLst/>
                <a:latin typeface="Open Sans" panose="020F0502020204030204" pitchFamily="34" charset="0"/>
              </a:rPr>
              <a:t> and had </a:t>
            </a:r>
            <a:r>
              <a:rPr lang="en-US" b="1" i="0" dirty="0">
                <a:solidFill>
                  <a:srgbClr val="19191E"/>
                </a:solidFill>
                <a:effectLst/>
                <a:latin typeface="Open Sans" panose="020F0502020204030204" pitchFamily="34" charset="0"/>
              </a:rPr>
              <a:t>various software bugs, including memory corruption, buffer overflow, unsafe casting, race conditions, and others</a:t>
            </a:r>
            <a:r>
              <a:rPr lang="en-US" b="0" i="0" dirty="0">
                <a:solidFill>
                  <a:srgbClr val="19191E"/>
                </a:solidFill>
                <a:effectLst/>
                <a:latin typeface="Open Sans" panose="020F0502020204030204" pitchFamily="34" charset="0"/>
              </a:rPr>
              <a:t>.</a:t>
            </a:r>
          </a:p>
          <a:p>
            <a:r>
              <a:rPr lang="en-US" b="0" i="0" dirty="0">
                <a:solidFill>
                  <a:srgbClr val="19191E"/>
                </a:solidFill>
                <a:effectLst/>
                <a:latin typeface="Open Sans" panose="020F0502020204030204" pitchFamily="34" charset="0"/>
              </a:rPr>
              <a:t> The whole story took years in practice. Toyota claimed first that the problem was caused by floor mats. They got fined $1.2 Billion for concealing safety defects. The most important acceleration related piece of code appeared to have </a:t>
            </a:r>
            <a:r>
              <a:rPr lang="en-US" b="0" i="0" u="none" strike="noStrike" dirty="0">
                <a:solidFill>
                  <a:srgbClr val="5384FB"/>
                </a:solidFill>
                <a:effectLst/>
                <a:latin typeface="Open Sans" panose="020F0502020204030204" pitchFamily="34" charset="0"/>
                <a:hlinkClick r:id="rId3"/>
              </a:rPr>
              <a:t>huge cyclomatic complexity, in practice making it untestable</a:t>
            </a:r>
            <a:r>
              <a:rPr lang="en-US" b="0" i="0" dirty="0">
                <a:solidFill>
                  <a:srgbClr val="19191E"/>
                </a:solidFill>
                <a:effectLst/>
                <a:latin typeface="Open Sans" panose="020F0502020204030204" pitchFamily="34" charset="0"/>
              </a:rPr>
              <a:t>.</a:t>
            </a:r>
            <a:endParaRPr lang="en-IN" dirty="0"/>
          </a:p>
        </p:txBody>
      </p:sp>
    </p:spTree>
    <p:extLst>
      <p:ext uri="{BB962C8B-B14F-4D97-AF65-F5344CB8AC3E}">
        <p14:creationId xmlns:p14="http://schemas.microsoft.com/office/powerpoint/2010/main" val="7003033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7D62D-B886-00D0-33A9-9199161C1B7C}"/>
              </a:ext>
            </a:extLst>
          </p:cNvPr>
          <p:cNvSpPr>
            <a:spLocks noGrp="1"/>
          </p:cNvSpPr>
          <p:nvPr>
            <p:ph type="title"/>
          </p:nvPr>
        </p:nvSpPr>
        <p:spPr/>
        <p:txBody>
          <a:bodyPr/>
          <a:lstStyle/>
          <a:p>
            <a:r>
              <a:rPr lang="en-US" dirty="0"/>
              <a:t>Sources</a:t>
            </a:r>
            <a:endParaRPr lang="en-IN" dirty="0"/>
          </a:p>
        </p:txBody>
      </p:sp>
      <p:sp>
        <p:nvSpPr>
          <p:cNvPr id="3" name="Content Placeholder 2">
            <a:extLst>
              <a:ext uri="{FF2B5EF4-FFF2-40B4-BE49-F238E27FC236}">
                <a16:creationId xmlns:a16="http://schemas.microsoft.com/office/drawing/2014/main" id="{871F61B4-4B92-5B97-02D4-8A390E685BDD}"/>
              </a:ext>
            </a:extLst>
          </p:cNvPr>
          <p:cNvSpPr>
            <a:spLocks noGrp="1"/>
          </p:cNvSpPr>
          <p:nvPr>
            <p:ph idx="1"/>
          </p:nvPr>
        </p:nvSpPr>
        <p:spPr/>
        <p:txBody>
          <a:bodyPr/>
          <a:lstStyle/>
          <a:p>
            <a:r>
              <a:rPr lang="en-US" dirty="0">
                <a:hlinkClick r:id="rId2"/>
              </a:rPr>
              <a:t>7 Software Failures Due To Lack Of Testing That Rocked The World (appsierra.com)</a:t>
            </a:r>
            <a:endParaRPr lang="en-US" dirty="0"/>
          </a:p>
          <a:p>
            <a:r>
              <a:rPr lang="en-US" dirty="0">
                <a:hlinkClick r:id="rId3"/>
              </a:rPr>
              <a:t>Top Software Failures Due to Lack of Testing – </a:t>
            </a:r>
            <a:r>
              <a:rPr lang="en-US" dirty="0" err="1">
                <a:hlinkClick r:id="rId3"/>
              </a:rPr>
              <a:t>BugRaptors</a:t>
            </a:r>
            <a:endParaRPr lang="en-US" dirty="0"/>
          </a:p>
          <a:p>
            <a:r>
              <a:rPr lang="en-US" dirty="0">
                <a:hlinkClick r:id="rId4"/>
              </a:rPr>
              <a:t>4 Interesting Cases of Software Failures and Consequences | by Humberto </a:t>
            </a:r>
            <a:r>
              <a:rPr lang="en-US" dirty="0" err="1">
                <a:hlinkClick r:id="rId4"/>
              </a:rPr>
              <a:t>Linero</a:t>
            </a:r>
            <a:r>
              <a:rPr lang="en-US" dirty="0">
                <a:hlinkClick r:id="rId4"/>
              </a:rPr>
              <a:t> | Bits and Pieces (bitsrc.io)</a:t>
            </a:r>
            <a:endParaRPr lang="en-IN" dirty="0"/>
          </a:p>
        </p:txBody>
      </p:sp>
    </p:spTree>
    <p:extLst>
      <p:ext uri="{BB962C8B-B14F-4D97-AF65-F5344CB8AC3E}">
        <p14:creationId xmlns:p14="http://schemas.microsoft.com/office/powerpoint/2010/main" val="37650692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1199</Words>
  <Application>Microsoft Office PowerPoint</Application>
  <PresentationFormat>Widescreen</PresentationFormat>
  <Paragraphs>37</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__Manrope_cbcdd2</vt:lpstr>
      <vt:lpstr>Arial</vt:lpstr>
      <vt:lpstr>Calibri</vt:lpstr>
      <vt:lpstr>Calibri Light</vt:lpstr>
      <vt:lpstr>EuclidCircularB-Regular</vt:lpstr>
      <vt:lpstr>Open Sans</vt:lpstr>
      <vt:lpstr>Plus Jakarta Sans</vt:lpstr>
      <vt:lpstr>Office Theme</vt:lpstr>
      <vt:lpstr>Software Failure Examples</vt:lpstr>
      <vt:lpstr>Israel’s Attempt to land on Moon fails seconds before touchdown </vt:lpstr>
      <vt:lpstr> Boeing 737 Max Crashes</vt:lpstr>
      <vt:lpstr>English Airways flights cancelled due to failed computer systems </vt:lpstr>
      <vt:lpstr>Self-driving Uber car kills pedestrian in Arizona </vt:lpstr>
      <vt:lpstr>Security flaw detected on the whole Intel processing chips </vt:lpstr>
      <vt:lpstr>Amazon Partner Juspay Shamed Online - Data Breach Case</vt:lpstr>
      <vt:lpstr>Yahoo Confirmation on Massive Data Breach</vt:lpstr>
      <vt:lpstr>Memory Failure - Tesla Recalls 135,000 Vehicles</vt:lpstr>
      <vt:lpstr>Super Buggy Spacecraft Launch</vt:lpstr>
      <vt:lpstr>Toyota software glitches killed 89 people</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Marisha</dc:creator>
  <cp:lastModifiedBy>Marisha</cp:lastModifiedBy>
  <cp:revision>1</cp:revision>
  <dcterms:created xsi:type="dcterms:W3CDTF">2024-09-03T05:26:17Z</dcterms:created>
  <dcterms:modified xsi:type="dcterms:W3CDTF">2024-09-03T05:30:18Z</dcterms:modified>
</cp:coreProperties>
</file>